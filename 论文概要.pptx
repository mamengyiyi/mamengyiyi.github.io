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7" r:id="rId11"/>
    <p:sldId id="268" r:id="rId12"/>
    <p:sldId id="262" r:id="rId13"/>
    <p:sldId id="264" r:id="rId14"/>
    <p:sldId id="265" r:id="rId15"/>
    <p:sldId id="263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B3FDC-2F7F-4C1B-8A18-9D6BF24F4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27EF5F-613E-4BEA-BEDD-979887135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D1AD9-4B44-4ACC-B4D0-98DCB2AA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16588-BA9F-4C6F-94BD-EBEEFA22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3D76C-F8F9-440A-88E6-90F072DD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5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D096B-D5D6-4971-9830-8EBC1CB6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FB18D-A720-412B-912D-2B5C920F8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76DCD0-EB3C-4B90-9D49-1634A675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2FB3E8-2EE4-400D-AE7D-51BAD4E5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7344B-3BA0-4C65-BE7F-EDC15FF3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4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0A36-5D96-4C56-9415-30E8C41D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19BDA-3847-4DEA-BFD0-12D8382E6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1E045D-3AF6-4656-90AC-89A2E9E5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2B0D0A-7BA0-4A3B-B1D6-0D409D66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366474-724C-482C-863D-A27D41C9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50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76D3D-EB64-4140-A6D3-17071F90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49C57-0341-473D-B155-A247DB4CF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B60A32-5DDB-4F43-86F4-6A5DDDFBF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44DEF4-8FE3-43C9-96A0-655A5CC2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753D8-6802-49F9-9C56-D0746376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8D9BA-65C1-41FF-9456-AA9CDB89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3FB3E-633C-48ED-93C0-85CCDF54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7247F-8EDB-4FC4-BADC-E2CA764F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8B3EA3-6728-4159-BDEB-5C02E33F8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73D02A-200F-452C-83CA-55DE07C84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254BCA-5BE4-4165-B61D-5027D7BD8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314525-9029-4A4C-B890-44615207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C672E2-89EB-42D9-A870-46B5E403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DD37AF-298E-4256-A612-44996F2F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1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1677B-DC8C-49EF-8A07-62C99D3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BC46C0-FEE4-4B87-AEC7-9E50C875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18D0C9-EF09-47CB-B147-94C6641C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45F07C-119D-4900-8572-6B253FEC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60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FB4204-40CE-472C-95D6-60F7E846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1B69EF-FD38-4F73-9AA8-7AF78E44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5E671-5B1E-447C-BD11-A4E09AC2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6377F-2FC4-4B49-BCA1-95E6ECDA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F295D-A400-463B-BEDE-75890F17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AF23DB-210D-4FB3-82CD-FEA803E07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2B1FE2-09C1-42C8-A988-3AE9B321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D558E2-84AD-4EB7-9E45-41D6F647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41070E-2925-4259-BFFF-7497535B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03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7E649-812F-447C-B5EF-2C541716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A539FE-DF1F-4FEC-9772-C2114ACC4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D10C6B-8D51-4C57-8FA7-DA9C537DE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ED96E7-7963-447C-ACE9-8822D51C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AC7685-BAFB-4535-B7BB-D256FF10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6E1A02-C2A3-4026-9F6E-C9E521AB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2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4A910-8919-4286-9462-34C5938E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700DA-0637-4124-A4FD-FA4BFE20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72C6F-0444-46E0-8369-C570C925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059FB-E2A8-4CFC-BA46-D6405CC2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5DF004-BADA-4BEE-84B8-257313DD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87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FE6438-02C5-42F3-948D-94D9EE8AF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8A14FF-C13B-48B7-A96E-ABAB74686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3A2D8-BF88-4E49-B122-F3E92680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60D36B-4C08-4907-B611-1270416D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2072E-28DC-42EE-9961-B1272804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7F50A7-A961-49D6-AA1C-2FB2BCFF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E37803-9D2C-4E0D-B80B-5B90BFF4D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35935-3FCC-4412-999C-B75E86B9C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9E72-3705-4A30-812A-AA232BD8464E}" type="datetimeFigureOut">
              <a:rPr lang="zh-CN" altLang="en-US" smtClean="0"/>
              <a:t>2019/10/29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4D424-96BE-4344-8FCA-22A07E3FB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285A0-E2F8-4043-ADC4-82A1C1BB0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B714E-F6D8-4A00-B956-516E0BC7CF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98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486AC-B5A5-4468-89C5-7F8155BE6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5872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User-Targeted Reinforcement Learning towards Multi-Channel Ads Optimization with Budget Constraints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9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5" y="499886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49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Offline Evaluation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Online Evaluation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55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14" y="203701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835" y="988164"/>
            <a:ext cx="11237464" cy="536075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背景简介：广告系统简介（重要性，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，广告主目标等）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发现问题：序列化现象在广告系统中的存在；现有广告系统缺陷（短时贪心）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定义问题：二价扣费模式下有预算约束的竞价策略优化；问题困难性（序列决策，预算约束）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现有解法：解决不了我们的问题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Budget Allocation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（无决策，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粒度）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Constrained RTB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（基于短期价值）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（对未来无预估，无决策）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Prediction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（短期）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本文解法：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用户拆解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Iteration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运营单一用户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升级价值预估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将预估价值转换为出价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建模预算约束下的用户挑选为背包问题，使用贪心算法与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控制求解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r>
              <a:rPr lang="zh-CN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将广告投放长序列优化问题转换为用户分解与单个用户运营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升级短期价值预估为长期价值预估，设计公式将长期价值映射到具体出价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使用贪心算法与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控制求解预算约束问题，得到近似最优解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基于现有短视系统的升级方案介绍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在线与离线实验效果评估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0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14" y="203701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835" y="988164"/>
            <a:ext cx="11237464" cy="536075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Decision in Advertising and Recommendation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证明了序列化问题的存在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广告中的序列决策属于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粒度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推荐中的序列决策不需要进行出价决策，没有预算约束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未考虑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channels</a:t>
            </a: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基于短期价值做决策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Estimation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短期价值预估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未将价值转为出价决策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Allocation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只做分配，而未提供竞价决策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出价不精确，可能会造成市场价格动荡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更新模式，现行系统改造升级成本巨大</a:t>
            </a:r>
            <a:endParaRPr lang="en-US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5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83" y="774120"/>
            <a:ext cx="5166541" cy="536075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多场景下的序列广告投放问题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什么是多场景下的序列广告投放问题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广告主目的：选好场景，挑好用户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F2EDB2-C3AF-46EA-BBD6-19E58EACE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7" y="2275031"/>
            <a:ext cx="5425133" cy="307874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1F6497F-6FB2-4846-9ED1-2E761666F6DB}"/>
              </a:ext>
            </a:extLst>
          </p:cNvPr>
          <p:cNvSpPr txBox="1">
            <a:spLocks/>
          </p:cNvSpPr>
          <p:nvPr/>
        </p:nvSpPr>
        <p:spPr>
          <a:xfrm>
            <a:off x="5824064" y="736226"/>
            <a:ext cx="5633565" cy="4044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多场景下的序列广告投放中的预算约束竞价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Constrained Bidding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：依赖短期价值决策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Constrained Bidding in Multi-channel Sequential Advertising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：短期价值升级为长期价值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问题形式化：背包问题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E6CA29-064E-4CBD-BE76-1D8138B61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274" y="1330398"/>
            <a:ext cx="2274409" cy="6153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042A18-DF2D-43CD-9387-0EB4EA8B5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159" y="1508415"/>
            <a:ext cx="642682" cy="2125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CE79472-9B17-46F9-B60B-57230A34B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707" y="2470498"/>
            <a:ext cx="3331681" cy="11799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679C86E-3C08-4EF5-8B5F-AE53AEA68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547" y="4029683"/>
            <a:ext cx="2643953" cy="12204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993408A-E11B-4046-AA73-73A1F3489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235" y="5411620"/>
            <a:ext cx="1547122" cy="26055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C8E8361-EDE9-484E-AA1F-4393171453E0}"/>
              </a:ext>
            </a:extLst>
          </p:cNvPr>
          <p:cNvSpPr txBox="1"/>
          <p:nvPr/>
        </p:nvSpPr>
        <p:spPr>
          <a:xfrm>
            <a:off x="6631745" y="5888628"/>
            <a:ext cx="4296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    已知的情况下，</a:t>
            </a:r>
            <a:endParaRPr lang="en-US" altLang="zh-CN" dirty="0"/>
          </a:p>
          <a:p>
            <a:r>
              <a:rPr lang="zh-CN" altLang="en-US" dirty="0"/>
              <a:t>该优化问题可以转换为背包问题求解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477AD7C-6671-4E53-869A-2FA8C506667A}"/>
              </a:ext>
            </a:extLst>
          </p:cNvPr>
          <p:cNvGrpSpPr/>
          <p:nvPr/>
        </p:nvGrpSpPr>
        <p:grpSpPr>
          <a:xfrm>
            <a:off x="6719032" y="5913227"/>
            <a:ext cx="2333822" cy="298566"/>
            <a:chOff x="6103015" y="5836312"/>
            <a:chExt cx="2333822" cy="29856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239573-BEAB-4171-988E-49009D9C6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3015" y="5836312"/>
              <a:ext cx="296000" cy="2561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B49F71B-AD28-488A-9F1F-235CAC6C7C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0344"/>
            <a:stretch/>
          </p:blipFill>
          <p:spPr>
            <a:xfrm>
              <a:off x="6518578" y="5865674"/>
              <a:ext cx="907733" cy="2561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139152E-2F8F-4AD5-B9BD-906EDED0F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09370" y="5888628"/>
              <a:ext cx="927467" cy="246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996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83" y="774119"/>
            <a:ext cx="10647401" cy="618494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Traffic Decomposition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：解决挑用户的问题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问题拆解：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贪心算法求解挑用户问题：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）根据长期价值性价比                                                 对用户排序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）挑选排序最靠前的用户竞价，直到花光预算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形式化每个用户的最优策略         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558C61-439E-4C0C-821B-FCF1AB58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20" y="1120394"/>
            <a:ext cx="2742934" cy="2235950"/>
          </a:xfrm>
          <a:prstGeom prst="rect">
            <a:avLst/>
          </a:prstGeom>
        </p:spPr>
      </p:pic>
      <p:pic>
        <p:nvPicPr>
          <p:cNvPr id="16" name="内容占位符 3">
            <a:extLst>
              <a:ext uri="{FF2B5EF4-FFF2-40B4-BE49-F238E27FC236}">
                <a16:creationId xmlns:a16="http://schemas.microsoft.com/office/drawing/2014/main" id="{628E3067-974C-4B04-97D2-E272347033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916"/>
          <a:stretch/>
        </p:blipFill>
        <p:spPr>
          <a:xfrm>
            <a:off x="1269064" y="1462330"/>
            <a:ext cx="3388914" cy="155207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1840DFC-17DF-459C-BBA5-2EA8427E3A0B}"/>
              </a:ext>
            </a:extLst>
          </p:cNvPr>
          <p:cNvCxnSpPr>
            <a:stCxn id="16" idx="3"/>
          </p:cNvCxnSpPr>
          <p:nvPr/>
        </p:nvCxnSpPr>
        <p:spPr>
          <a:xfrm>
            <a:off x="4657978" y="2238369"/>
            <a:ext cx="25032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603FFD4-1D58-41EB-B047-B858E7C7D622}"/>
              </a:ext>
            </a:extLst>
          </p:cNvPr>
          <p:cNvSpPr txBox="1"/>
          <p:nvPr/>
        </p:nvSpPr>
        <p:spPr>
          <a:xfrm>
            <a:off x="4869881" y="1786355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用户之间彼此独立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9D1B234-DADB-46A9-BC3E-6F5A30A98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68" y="3337878"/>
            <a:ext cx="2243620" cy="90513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A025562-B51C-40E5-B07C-8D51B4100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430" y="4706366"/>
            <a:ext cx="437574" cy="44775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458CB31-7482-4593-95E3-43269CD90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72" y="5122318"/>
            <a:ext cx="5566728" cy="111845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33360A7-BA13-4C89-AD67-EB0E11C88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297" y="5188022"/>
            <a:ext cx="4576703" cy="1306657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DDCDB97-B06B-42A4-AC17-C969395A83CD}"/>
              </a:ext>
            </a:extLst>
          </p:cNvPr>
          <p:cNvCxnSpPr>
            <a:cxnSpLocks/>
          </p:cNvCxnSpPr>
          <p:nvPr/>
        </p:nvCxnSpPr>
        <p:spPr>
          <a:xfrm>
            <a:off x="6110347" y="5440913"/>
            <a:ext cx="975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65CA8F5-C5BF-45F0-A918-850169454FD4}"/>
              </a:ext>
            </a:extLst>
          </p:cNvPr>
          <p:cNvSpPr txBox="1"/>
          <p:nvPr/>
        </p:nvSpPr>
        <p:spPr>
          <a:xfrm>
            <a:off x="5676296" y="5553657"/>
            <a:ext cx="2021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99.95%</a:t>
            </a:r>
            <a:r>
              <a:rPr lang="zh-CN" altLang="en-US" sz="1600" dirty="0"/>
              <a:t>的用户</a:t>
            </a:r>
            <a:endParaRPr lang="en-US" altLang="zh-CN" sz="1600" dirty="0"/>
          </a:p>
          <a:p>
            <a:pPr algn="ctr"/>
            <a:r>
              <a:rPr lang="zh-CN" altLang="en-US" sz="1600" dirty="0"/>
              <a:t>只会发生一次购买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34510B-A908-4C34-85A3-883A3AD36BA2}"/>
                  </a:ext>
                </a:extLst>
              </p:cNvPr>
              <p:cNvSpPr txBox="1"/>
              <p:nvPr/>
            </p:nvSpPr>
            <p:spPr>
              <a:xfrm>
                <a:off x="2640531" y="6415818"/>
                <a:ext cx="74245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 dirty="0"/>
                  <a:t>后续设计：利用拉格朗日乘子法可证明，加入</a:t>
                </a:r>
                <a14:m>
                  <m:oMath xmlns:m="http://schemas.openxmlformats.org/officeDocument/2006/math">
                    <m:r>
                      <a:rPr lang="zh-CN" altLang="en-US" sz="16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sz="1600" b="1" dirty="0"/>
                  <a:t>稍作形式变换，二者优化目标一致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34510B-A908-4C34-85A3-883A3AD36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531" y="6415818"/>
                <a:ext cx="7424523" cy="338554"/>
              </a:xfrm>
              <a:prstGeom prst="rect">
                <a:avLst/>
              </a:prstGeom>
              <a:blipFill>
                <a:blip r:embed="rId8"/>
                <a:stretch>
                  <a:fillRect l="-411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004E4862-9EE1-415D-9BAD-8BD98F727424}"/>
              </a:ext>
            </a:extLst>
          </p:cNvPr>
          <p:cNvSpPr/>
          <p:nvPr/>
        </p:nvSpPr>
        <p:spPr>
          <a:xfrm>
            <a:off x="8039070" y="5316881"/>
            <a:ext cx="200156" cy="22310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98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83" y="774119"/>
            <a:ext cx="10647401" cy="6184945"/>
          </a:xfrm>
        </p:spPr>
        <p:txBody>
          <a:bodyPr>
            <a:normAutofit/>
          </a:bodyPr>
          <a:lstStyle/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D2CABFD5-7C9F-482A-A504-938A7FBBD632}"/>
              </a:ext>
            </a:extLst>
          </p:cNvPr>
          <p:cNvSpPr txBox="1">
            <a:spLocks/>
          </p:cNvSpPr>
          <p:nvPr/>
        </p:nvSpPr>
        <p:spPr>
          <a:xfrm>
            <a:off x="659283" y="926519"/>
            <a:ext cx="10647401" cy="6184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User-Targeted RL for RTB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：解决运营用户的问题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S: user profile features, user behavior features, real-time user behavior features, context features, user-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current_ad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cumulative interaction histories and user feedbacks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gmv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cost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T: transition model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gamma: 1</a:t>
            </a:r>
          </a:p>
          <a:p>
            <a:pPr marL="457200" lvl="1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Evaluation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：长期价值预估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64E78D-2CBC-425A-998A-D5B67165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38" y="3866591"/>
            <a:ext cx="4838700" cy="2524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EFB75C-F3F5-44B7-91F8-ED2A7B298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85" y="4456522"/>
            <a:ext cx="4766499" cy="13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7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27170-A068-45D3-9E7C-908BF78D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83" y="774119"/>
            <a:ext cx="10647401" cy="6184945"/>
          </a:xfrm>
        </p:spPr>
        <p:txBody>
          <a:bodyPr>
            <a:normAutofit/>
          </a:bodyPr>
          <a:lstStyle/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D2CABFD5-7C9F-482A-A504-938A7FBBD632}"/>
              </a:ext>
            </a:extLst>
          </p:cNvPr>
          <p:cNvSpPr txBox="1">
            <a:spLocks/>
          </p:cNvSpPr>
          <p:nvPr/>
        </p:nvSpPr>
        <p:spPr>
          <a:xfrm>
            <a:off x="659283" y="926519"/>
            <a:ext cx="10647401" cy="6184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User-Targeted RL for RTB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：解决运营用户的问题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Improvement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：将长期价值转为出价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2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F18EBD-2D42-4B8E-94CE-7D2C8C639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18" y="1885499"/>
            <a:ext cx="3913129" cy="5599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838D2B-DF86-454D-BFE9-8997AB6CA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30" y="2657991"/>
            <a:ext cx="7759739" cy="168143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77AFF8-7F5B-415C-9F3F-C9B304395F7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982983" y="2445433"/>
            <a:ext cx="0" cy="384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964357B-C905-4232-A65E-3EE7A5C90626}"/>
              </a:ext>
            </a:extLst>
          </p:cNvPr>
          <p:cNvCxnSpPr>
            <a:cxnSpLocks/>
          </p:cNvCxnSpPr>
          <p:nvPr/>
        </p:nvCxnSpPr>
        <p:spPr>
          <a:xfrm>
            <a:off x="5958197" y="4147233"/>
            <a:ext cx="0" cy="384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9594411C-4520-44C9-98FE-D4818341D4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467"/>
          <a:stretch/>
        </p:blipFill>
        <p:spPr>
          <a:xfrm>
            <a:off x="3030232" y="4630374"/>
            <a:ext cx="6131535" cy="176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9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D2CABFD5-7C9F-482A-A504-938A7FBBD632}"/>
              </a:ext>
            </a:extLst>
          </p:cNvPr>
          <p:cNvSpPr txBox="1">
            <a:spLocks/>
          </p:cNvSpPr>
          <p:nvPr/>
        </p:nvSpPr>
        <p:spPr>
          <a:xfrm>
            <a:off x="553405" y="673055"/>
            <a:ext cx="10647401" cy="6184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Allocation Optimization with Q-values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：使用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阈值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按照                                              与               的大小决定是否出价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Life-long Policy Iteration Framework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：算法整体流程描述，包含冷启动与探索问题的解决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B72762-4387-4062-A83E-2BEE806FF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78"/>
          <a:stretch/>
        </p:blipFill>
        <p:spPr>
          <a:xfrm>
            <a:off x="1839532" y="1092050"/>
            <a:ext cx="2104284" cy="8202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0811CF-BE96-4940-8B62-35EB05E93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693" y="1203087"/>
            <a:ext cx="779576" cy="508862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A859B773-5D8C-4C3C-95DD-E6D89663500E}"/>
              </a:ext>
            </a:extLst>
          </p:cNvPr>
          <p:cNvGrpSpPr/>
          <p:nvPr/>
        </p:nvGrpSpPr>
        <p:grpSpPr>
          <a:xfrm>
            <a:off x="553405" y="2298114"/>
            <a:ext cx="5648325" cy="4507382"/>
            <a:chOff x="553405" y="2771187"/>
            <a:chExt cx="5648325" cy="450738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C3341D2-D15C-4CF0-A65C-F354E36B38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2151"/>
            <a:stretch/>
          </p:blipFill>
          <p:spPr>
            <a:xfrm>
              <a:off x="553405" y="3128211"/>
              <a:ext cx="5648325" cy="4150358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47753D7-766E-4445-913D-852736F1B0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91343"/>
            <a:stretch/>
          </p:blipFill>
          <p:spPr>
            <a:xfrm>
              <a:off x="553405" y="2771187"/>
              <a:ext cx="5648325" cy="409001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99CF2534-2DA6-48A4-A4E3-17EFB78A7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730" y="2327320"/>
            <a:ext cx="5505450" cy="38576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036A185-379F-48D3-850E-727EADE20FE5}"/>
              </a:ext>
            </a:extLst>
          </p:cNvPr>
          <p:cNvSpPr txBox="1"/>
          <p:nvPr/>
        </p:nvSpPr>
        <p:spPr>
          <a:xfrm>
            <a:off x="6733903" y="6229085"/>
            <a:ext cx="4441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后续设计：除了</a:t>
            </a:r>
            <a:r>
              <a:rPr lang="en-US" altLang="zh-CN" sz="1600" b="1" dirty="0"/>
              <a:t>user</a:t>
            </a:r>
            <a:r>
              <a:rPr lang="zh-CN" altLang="en-US" sz="1600" b="1" dirty="0"/>
              <a:t>自身的探索，</a:t>
            </a:r>
            <a:endParaRPr lang="en-US" altLang="zh-CN" sz="1600" b="1" dirty="0"/>
          </a:p>
          <a:p>
            <a:r>
              <a:rPr lang="zh-CN" altLang="en-US" sz="1600" b="1" dirty="0"/>
              <a:t>加入</a:t>
            </a:r>
            <a:r>
              <a:rPr lang="en-US" altLang="zh-CN" sz="1600" b="1" dirty="0"/>
              <a:t>user</a:t>
            </a:r>
            <a:r>
              <a:rPr lang="zh-CN" altLang="en-US" sz="1600" b="1" dirty="0"/>
              <a:t>粒度的探索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ROI_th</a:t>
            </a:r>
            <a:r>
              <a:rPr lang="en-US" altLang="zh-CN" sz="1600" b="1" dirty="0"/>
              <a:t> * random())</a:t>
            </a:r>
            <a:endParaRPr lang="zh-CN" altLang="en-US" sz="16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6DC216-C838-4F92-83E3-1B0FD904AC11}"/>
              </a:ext>
            </a:extLst>
          </p:cNvPr>
          <p:cNvSpPr txBox="1"/>
          <p:nvPr/>
        </p:nvSpPr>
        <p:spPr>
          <a:xfrm>
            <a:off x="7197491" y="1157075"/>
            <a:ext cx="4441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后续设计：声明二价选人和一价选人之间的区别（二价达到一价</a:t>
            </a:r>
            <a:r>
              <a:rPr lang="en-US" altLang="zh-CN" sz="1600" b="1" dirty="0"/>
              <a:t>90%</a:t>
            </a:r>
            <a:r>
              <a:rPr lang="zh-CN" altLang="en-US" sz="1600" b="1" dirty="0"/>
              <a:t>以上；一价选人更安全）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52CA39-AD14-41CB-9B38-30B19C30BAA5}"/>
              </a:ext>
            </a:extLst>
          </p:cNvPr>
          <p:cNvSpPr/>
          <p:nvPr/>
        </p:nvSpPr>
        <p:spPr>
          <a:xfrm>
            <a:off x="2859348" y="1345964"/>
            <a:ext cx="200156" cy="22310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45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98" y="566101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6AF74B-7009-4B24-B2F7-54B6B7079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11" y="2459668"/>
            <a:ext cx="8457046" cy="3488744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7EE8364-46D4-4D8D-B52D-1FD95E6C1905}"/>
              </a:ext>
            </a:extLst>
          </p:cNvPr>
          <p:cNvSpPr txBox="1">
            <a:spLocks/>
          </p:cNvSpPr>
          <p:nvPr/>
        </p:nvSpPr>
        <p:spPr>
          <a:xfrm>
            <a:off x="567998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myopic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系统升级为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non-myopic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系统（离线模拟环境类似）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1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DDA96-5B26-46EC-8AC5-2B04179E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3" y="86890"/>
            <a:ext cx="9708811" cy="7844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7EE8364-46D4-4D8D-B52D-1FD95E6C1905}"/>
              </a:ext>
            </a:extLst>
          </p:cNvPr>
          <p:cNvSpPr txBox="1">
            <a:spLocks/>
          </p:cNvSpPr>
          <p:nvPr/>
        </p:nvSpPr>
        <p:spPr>
          <a:xfrm>
            <a:off x="356243" y="7741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长期价值预估模型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4E673B-9231-4CB3-A2CF-3CDAE9E74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86" y="1148612"/>
            <a:ext cx="96964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95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Offline 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2114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Myopic vs Non-myopic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498" y="2325508"/>
            <a:ext cx="8684400" cy="38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3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987" y="1265415"/>
            <a:ext cx="5819775" cy="40290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589" y="1003300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 case: user-based optimization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（序列运营上）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4296" y="1563510"/>
            <a:ext cx="67648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现有对比：给定单个user (长轨迹序列下)，我们方法 vs 传统RL算法(DQN/DDPG) 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对比 training set learning curve（标注离线最优解）：是否能收敛到最优解？Training loss怎么样？learning的速度怎么样？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理想结果：主方法收敛速度快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现状：没有区别，没有优势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原因：竞价环境二价稳定</a:t>
            </a:r>
            <a:endParaRPr lang="en-US" altLang="zh-C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sz="1600" dirty="0"/>
              <a:t>对比 bid 分布：突出我们formulation 在 bid 出价上的优势；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理想结果：主方法从训练开始到训练收敛出价分布都合理，</a:t>
            </a:r>
            <a:endParaRPr lang="en-US" altLang="zh-CN" sz="1600" dirty="0"/>
          </a:p>
          <a:p>
            <a:pPr lvl="1"/>
            <a:r>
              <a:rPr lang="en-US" altLang="zh-CN" sz="1600" dirty="0"/>
              <a:t>                        </a:t>
            </a:r>
            <a:r>
              <a:rPr lang="zh-CN" altLang="en-US" sz="1600" dirty="0"/>
              <a:t>而</a:t>
            </a:r>
            <a:r>
              <a:rPr lang="en-US" altLang="zh-CN" sz="1600" dirty="0"/>
              <a:t>DQN</a:t>
            </a:r>
            <a:r>
              <a:rPr lang="zh-CN" altLang="en-US" sz="1600" dirty="0"/>
              <a:t>和</a:t>
            </a:r>
            <a:r>
              <a:rPr lang="en-US" altLang="zh-CN" sz="1600" dirty="0"/>
              <a:t>DDPG</a:t>
            </a:r>
            <a:r>
              <a:rPr lang="zh-CN" altLang="en-US" sz="1600" dirty="0"/>
              <a:t>出价分布由混乱到稳定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现状：训练收敛时只有主方法出价合理</a:t>
            </a:r>
            <a:endParaRPr lang="en-US" altLang="zh-C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原因：</a:t>
            </a:r>
            <a:r>
              <a:rPr lang="en-US" altLang="zh-CN" sz="1600" dirty="0"/>
              <a:t>DQN</a:t>
            </a:r>
            <a:r>
              <a:rPr lang="zh-CN" altLang="en-US" sz="1600" dirty="0"/>
              <a:t>和</a:t>
            </a:r>
            <a:r>
              <a:rPr lang="en-US" altLang="zh-CN" sz="1600" dirty="0"/>
              <a:t>DDPG</a:t>
            </a:r>
            <a:r>
              <a:rPr lang="zh-CN" altLang="en-US" sz="1600" dirty="0"/>
              <a:t>未达到收敛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en-US" altLang="zh-CN" sz="16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5510E78-A192-45EC-A5DD-D8551966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89" y="0"/>
            <a:ext cx="10515600" cy="1325563"/>
          </a:xfrm>
        </p:spPr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Offline Evaluation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BCC611-363A-47BC-929A-B311F185AF5D}"/>
              </a:ext>
            </a:extLst>
          </p:cNvPr>
          <p:cNvSpPr txBox="1"/>
          <p:nvPr/>
        </p:nvSpPr>
        <p:spPr>
          <a:xfrm>
            <a:off x="564296" y="5082577"/>
            <a:ext cx="10659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endParaRPr lang="en-US" altLang="zh-CN" b="1" dirty="0"/>
          </a:p>
          <a:p>
            <a:r>
              <a:rPr lang="zh-CN" altLang="en-US" b="1" dirty="0"/>
              <a:t>后续设计：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更改二价环境，引起市场价格变动，使得探索环境变得复杂，从而使得</a:t>
            </a:r>
            <a:r>
              <a:rPr lang="en-US" altLang="zh-CN" b="1" dirty="0"/>
              <a:t>DQN</a:t>
            </a:r>
            <a:r>
              <a:rPr lang="zh-CN" altLang="en-US" b="1" dirty="0"/>
              <a:t>和</a:t>
            </a:r>
            <a:r>
              <a:rPr lang="en-US" altLang="zh-CN" b="1" dirty="0"/>
              <a:t>DDPG</a:t>
            </a:r>
            <a:r>
              <a:rPr lang="zh-CN" altLang="en-US" b="1" dirty="0"/>
              <a:t>收敛速度慢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绘制训练首中尾不同时期的出价分布，突出我们出价分布随着学习始终很稳定</a:t>
            </a:r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1308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587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Case: Daily Budget Allocation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77" y="1241477"/>
            <a:ext cx="5229923" cy="396752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98899" y="235180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现有对比：预算分配效果对比，包括CDQN、CDDPG、our method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对比 training set learning curve：背包贪心 vs non-背包贪心;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对比 test set 上性能对比：一张表，GMV是多少、COST是多少（budget是多少）、ROI是多少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695D9E1-D748-4F1D-82BB-643AB1DD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Offline Evaluation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584AB8-1601-4ACA-8299-B6693AF06ED4}"/>
              </a:ext>
            </a:extLst>
          </p:cNvPr>
          <p:cNvSpPr txBox="1"/>
          <p:nvPr/>
        </p:nvSpPr>
        <p:spPr>
          <a:xfrm>
            <a:off x="998899" y="4670748"/>
            <a:ext cx="10659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endParaRPr lang="en-US" altLang="zh-CN" b="1" dirty="0"/>
          </a:p>
          <a:p>
            <a:r>
              <a:rPr lang="zh-CN" altLang="en-US" b="1" dirty="0"/>
              <a:t>后续设计：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现有方法训练到绝对收敛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加入</a:t>
            </a:r>
            <a:r>
              <a:rPr lang="en-US" altLang="zh-CN" b="1" dirty="0"/>
              <a:t>CMDP</a:t>
            </a:r>
            <a:r>
              <a:rPr lang="zh-CN" altLang="en-US" b="1" dirty="0"/>
              <a:t>下的</a:t>
            </a:r>
            <a:r>
              <a:rPr lang="en-US" altLang="zh-CN" b="1" dirty="0"/>
              <a:t>PPO</a:t>
            </a:r>
            <a:r>
              <a:rPr lang="zh-CN" altLang="en-US" b="1" dirty="0"/>
              <a:t>方法，以及贪心挑选用户下的</a:t>
            </a:r>
            <a:r>
              <a:rPr lang="en-US" altLang="zh-CN" b="1" dirty="0"/>
              <a:t>DQN</a:t>
            </a:r>
            <a:r>
              <a:rPr lang="zh-CN" altLang="en-US" b="1" dirty="0"/>
              <a:t>，</a:t>
            </a:r>
            <a:r>
              <a:rPr lang="en-US" altLang="zh-CN" b="1" dirty="0"/>
              <a:t>DDPG</a:t>
            </a:r>
            <a:r>
              <a:rPr lang="zh-CN" altLang="en-US" b="1" dirty="0"/>
              <a:t>和</a:t>
            </a:r>
            <a:r>
              <a:rPr lang="en-US" altLang="zh-CN" b="1" dirty="0"/>
              <a:t>PPO</a:t>
            </a:r>
            <a:r>
              <a:rPr lang="zh-CN" altLang="en-US" b="1" dirty="0"/>
              <a:t>方法</a:t>
            </a:r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6509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6410" y="1299464"/>
            <a:ext cx="10515600" cy="4351338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 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value prediction          </a:t>
            </a:r>
            <a:r>
              <a:rPr lang="en-US" altLang="zh-CN" b="1" dirty="0">
                <a:solidFill>
                  <a:srgbClr val="FF0000"/>
                </a:solidFill>
              </a:rPr>
              <a:t>						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368" y="1711677"/>
            <a:ext cx="4662736" cy="31528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073" y="2742003"/>
            <a:ext cx="3263893" cy="1738589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2F13F788-6F8F-4DEE-B16F-F5058646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Offline Evaluation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44C56F-DCC0-4706-9344-4A75B2FF6439}"/>
                  </a:ext>
                </a:extLst>
              </p:cNvPr>
              <p:cNvSpPr txBox="1"/>
              <p:nvPr/>
            </p:nvSpPr>
            <p:spPr>
              <a:xfrm>
                <a:off x="1117562" y="4704819"/>
                <a:ext cx="1065978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 startAt="2"/>
                </a:pPr>
                <a:endParaRPr lang="en-US" altLang="zh-CN" b="1" dirty="0"/>
              </a:p>
              <a:p>
                <a:r>
                  <a:rPr lang="zh-CN" altLang="en-US" b="1" dirty="0"/>
                  <a:t>后续设计：</a:t>
                </a:r>
                <a:endParaRPr lang="en-US" altLang="zh-CN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验证不同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/>
                  <a:t>下的主方法收敛效果的区别</a:t>
                </a:r>
                <a:endParaRPr lang="en-US" altLang="zh-CN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验证长期模型兼容短期模型</a:t>
                </a:r>
                <a:endParaRPr lang="en-US" altLang="zh-CN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整合营销 </a:t>
                </a:r>
                <a:r>
                  <a:rPr lang="en-US" altLang="zh-CN" b="1" dirty="0"/>
                  <a:t>vs </a:t>
                </a:r>
                <a:r>
                  <a:rPr lang="zh-CN" altLang="en-US" b="1" dirty="0"/>
                  <a:t>序列投放 对同一个</a:t>
                </a:r>
                <a:r>
                  <a:rPr lang="en-US" altLang="zh-CN" b="1" dirty="0"/>
                  <a:t>user</a:t>
                </a:r>
                <a:r>
                  <a:rPr lang="zh-CN" altLang="en-US" b="1" dirty="0"/>
                  <a:t>为什么决策路径不同，</a:t>
                </a:r>
                <a:r>
                  <a:rPr lang="en-US" altLang="zh-CN" b="1" dirty="0"/>
                  <a:t>detail</a:t>
                </a:r>
                <a:r>
                  <a:rPr lang="zh-CN" altLang="en-US" b="1" dirty="0"/>
                  <a:t>实验：现象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原因；</a:t>
                </a:r>
              </a:p>
              <a:p>
                <a:endParaRPr lang="zh-CN" altLang="en-US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44C56F-DCC0-4706-9344-4A75B2FF6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62" y="4704819"/>
                <a:ext cx="10659789" cy="1754326"/>
              </a:xfrm>
              <a:prstGeom prst="rect">
                <a:avLst/>
              </a:prstGeom>
              <a:blipFill>
                <a:blip r:embed="rId4"/>
                <a:stretch>
                  <a:fillRect l="-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2F13F788-6F8F-4DEE-B16F-F5058646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Experiment: Online Evaluation</a:t>
            </a:r>
            <a:endParaRPr lang="zh-CN" alt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9FA6B0D4-5511-42E4-ACEF-D87843D1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410" y="1299464"/>
            <a:ext cx="10515600" cy="4351338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4BB6FA-FF78-4460-AFB3-41E992BC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22" y="1920542"/>
            <a:ext cx="69627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4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1039</Words>
  <Application>Microsoft Office PowerPoint</Application>
  <PresentationFormat>宽屏</PresentationFormat>
  <Paragraphs>240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Arial</vt:lpstr>
      <vt:lpstr>Cambria Math</vt:lpstr>
      <vt:lpstr>Times New Roman</vt:lpstr>
      <vt:lpstr>Office 主题​​</vt:lpstr>
      <vt:lpstr>User-Targeted Reinforcement Learning towards Multi-Channel Ads Optimization with Budget Constraints</vt:lpstr>
      <vt:lpstr>Structure</vt:lpstr>
      <vt:lpstr>Introduction</vt:lpstr>
      <vt:lpstr>Related Work</vt:lpstr>
      <vt:lpstr>Problem Definition</vt:lpstr>
      <vt:lpstr>Methodology</vt:lpstr>
      <vt:lpstr>Methodology</vt:lpstr>
      <vt:lpstr>Methodology</vt:lpstr>
      <vt:lpstr>Methodology</vt:lpstr>
      <vt:lpstr>Deployment</vt:lpstr>
      <vt:lpstr>Deployment</vt:lpstr>
      <vt:lpstr>Experiment: Offline Evaluation</vt:lpstr>
      <vt:lpstr>Experiment: Offline Evaluation</vt:lpstr>
      <vt:lpstr>Experiment: Offline Evaluation</vt:lpstr>
      <vt:lpstr>Experiment: Offline Evaluation</vt:lpstr>
      <vt:lpstr>Experiment: Online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User-Targeted Reinforcement Learning towards Multi-Channel Ads Optimization with Budget Constraints</dc:title>
  <dc:creator>马 亿</dc:creator>
  <cp:lastModifiedBy>马 亿</cp:lastModifiedBy>
  <cp:revision>31</cp:revision>
  <dcterms:created xsi:type="dcterms:W3CDTF">2019-10-29T03:28:03Z</dcterms:created>
  <dcterms:modified xsi:type="dcterms:W3CDTF">2019-10-29T12:37:55Z</dcterms:modified>
</cp:coreProperties>
</file>